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716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2D3EE"/>
                </a:solidFill>
                <a:latin typeface="Arial"/>
              </a:defRPr>
            </a:pPr>
            <a:r>
              <a:t>Eco-Loop Building Agents</a:t>
            </a:r>
          </a:p>
          <a:p>
            <a:pPr>
              <a:spcBef>
                <a:spcPts val="1000"/>
              </a:spcBef>
              <a:defRPr sz="2000">
                <a:solidFill>
                  <a:srgbClr val="E2E8F0"/>
                </a:solidFill>
                <a:latin typeface="Arial"/>
              </a:defRPr>
            </a:pPr>
            <a:r>
              <a:t>Autonomous Smart Building Control with Digital Twin &amp; LLM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0"/>
            <a:ext cx="108173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400">
                <a:solidFill>
                  <a:srgbClr val="6366F1"/>
                </a:solidFill>
                <a:latin typeface="Arial"/>
              </a:rPr>
              <a:t>•  Problem Statement ID:  </a:t>
            </a:r>
            <a:r>
              <a:rPr sz="1400">
                <a:solidFill>
                  <a:srgbClr val="E2E8F0"/>
                </a:solidFill>
                <a:latin typeface="Arial"/>
              </a:rPr>
              <a:t>1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6366F1"/>
                </a:solidFill>
                <a:latin typeface="Arial"/>
              </a:rPr>
              <a:t>•  Problem Statement Title:  </a:t>
            </a:r>
            <a:r>
              <a:rPr sz="1400">
                <a:solidFill>
                  <a:srgbClr val="E2E8F0"/>
                </a:solidFill>
                <a:latin typeface="Arial"/>
              </a:rPr>
              <a:t>AI-Powered Autonomous Smart Building Optimization Challenge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6366F1"/>
                </a:solidFill>
                <a:latin typeface="Arial"/>
              </a:rPr>
              <a:t>•  Theme:  </a:t>
            </a:r>
            <a:r>
              <a:rPr sz="1400">
                <a:solidFill>
                  <a:srgbClr val="E2E8F0"/>
                </a:solidFill>
                <a:latin typeface="Arial"/>
              </a:rPr>
              <a:t>Smart Automation / Energy Efficiency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6366F1"/>
                </a:solidFill>
                <a:latin typeface="Arial"/>
              </a:rPr>
              <a:t>•  PS Category:  </a:t>
            </a:r>
            <a:r>
              <a:rPr sz="1400">
                <a:solidFill>
                  <a:srgbClr val="E2E8F0"/>
                </a:solidFill>
                <a:latin typeface="Arial"/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6366F1"/>
                </a:solidFill>
                <a:latin typeface="Arial"/>
              </a:rPr>
              <a:t>•  Student Name:  </a:t>
            </a:r>
            <a:r>
              <a:rPr sz="1400">
                <a:solidFill>
                  <a:srgbClr val="E2E8F0"/>
                </a:solidFill>
                <a:latin typeface="Arial"/>
              </a:rPr>
              <a:t>Sagar Raj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6366F1"/>
                </a:solidFill>
                <a:latin typeface="Arial"/>
              </a:rPr>
              <a:t>•  Student ID:  </a:t>
            </a:r>
            <a:r>
              <a:rPr sz="1400">
                <a:solidFill>
                  <a:srgbClr val="E2E8F0"/>
                </a:solidFill>
                <a:latin typeface="Arial"/>
              </a:rPr>
              <a:t>20524983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1600">
                <a:solidFill>
                  <a:srgbClr val="22D3EE"/>
                </a:solidFill>
                <a:latin typeface="Arial"/>
              </a:rPr>
              <a:t>DETAILED EXPLANATION OF PROPOSED SOLUTION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6366F1"/>
                </a:solidFill>
              </a:rPr>
              <a:t>▪  </a:t>
            </a:r>
            <a:r>
              <a:rPr sz="1200">
                <a:solidFill>
                  <a:srgbClr val="E2E8F0"/>
                </a:solidFill>
                <a:latin typeface="Arial"/>
              </a:rPr>
              <a:t>Autonomous Control Loop: Continually monitors building telemetry (indoor temperature, occupancy, weather, carbon intensity) and executes real-time control actions.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6366F1"/>
                </a:solidFill>
              </a:rPr>
              <a:t>▪  </a:t>
            </a:r>
            <a:r>
              <a:rPr sz="1200">
                <a:solidFill>
                  <a:srgbClr val="E2E8F0"/>
                </a:solidFill>
                <a:latin typeface="Arial"/>
              </a:rPr>
              <a:t>AI Planning Agent: An LLM strategic planner dynamically calculates Energy Conservation Measures (ECMs) and updates temperature setpoints without human code changes.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6366F1"/>
                </a:solidFill>
              </a:rPr>
              <a:t>▪  </a:t>
            </a:r>
            <a:r>
              <a:rPr sz="1200">
                <a:solidFill>
                  <a:srgbClr val="E2E8F0"/>
                </a:solidFill>
                <a:latin typeface="Arial"/>
              </a:rPr>
              <a:t>Digital Twin Sandbox: Simulates candidate control strategies over a 2-hour lookahead window before actuation to pick the most efficient strategy.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1600">
                <a:solidFill>
                  <a:srgbClr val="22D3EE"/>
                </a:solidFill>
                <a:latin typeface="Arial"/>
              </a:rPr>
              <a:t>ADDRESSING THE CORE PROBLEM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6366F1"/>
                </a:solidFill>
              </a:rPr>
              <a:t>▪  </a:t>
            </a:r>
            <a:r>
              <a:rPr sz="1200">
                <a:solidFill>
                  <a:srgbClr val="E2E8F0"/>
                </a:solidFill>
                <a:latin typeface="Arial"/>
              </a:rPr>
              <a:t>Replaces rigid rule-based schedules with demand-responsive, real-time thermodynamic planning.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6366F1"/>
                </a:solidFill>
              </a:rPr>
              <a:t>▪  </a:t>
            </a:r>
            <a:r>
              <a:rPr sz="1200">
                <a:solidFill>
                  <a:srgbClr val="E2E8F0"/>
                </a:solidFill>
                <a:latin typeface="Arial"/>
              </a:rPr>
              <a:t>Reduces HVAC grid electrical loads during peak hours and high carbon intensity periods.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6366F1"/>
                </a:solidFill>
              </a:rPr>
              <a:t>▪  </a:t>
            </a:r>
            <a:r>
              <a:rPr sz="1200">
                <a:solidFill>
                  <a:srgbClr val="E2E8F0"/>
                </a:solidFill>
                <a:latin typeface="Arial"/>
              </a:rPr>
              <a:t>Balances carbon reduction goals with occupant thermal comfort indices (PMV).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1600">
                <a:solidFill>
                  <a:srgbClr val="22D3EE"/>
                </a:solidFill>
                <a:latin typeface="Arial"/>
              </a:rPr>
              <a:t>INNOVATION &amp; UNIQUENESS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6366F1"/>
                </a:solidFill>
              </a:rPr>
              <a:t>▪  </a:t>
            </a:r>
            <a:r>
              <a:rPr sz="1200">
                <a:solidFill>
                  <a:srgbClr val="E2E8F0"/>
                </a:solidFill>
                <a:latin typeface="Arial"/>
              </a:rPr>
              <a:t>Dual-model pipeline: Combines open-source LLM reasoning with a high-fidelity thermodynamic model.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6366F1"/>
                </a:solidFill>
              </a:rPr>
              <a:t>▪  </a:t>
            </a:r>
            <a:r>
              <a:rPr sz="1200">
                <a:solidFill>
                  <a:srgbClr val="E2E8F0"/>
                </a:solidFill>
                <a:latin typeface="Arial"/>
              </a:rPr>
              <a:t>Zero-Trust Safety HUD: Deterministically validates AI output, falling back to RBC (Rule-Based Control) immediately if bounds are violated.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6366F1"/>
                </a:solidFill>
              </a:rPr>
              <a:t>▪  </a:t>
            </a:r>
            <a:r>
              <a:rPr sz="1200">
                <a:solidFill>
                  <a:srgbClr val="E2E8F0"/>
                </a:solidFill>
                <a:latin typeface="Arial"/>
              </a:rPr>
              <a:t>Standardized MCP Server Integration: Uses Model Context Protocol tools to parse errors, read files, and handle simulation state-space telemetry.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600">
                <a:solidFill>
                  <a:srgbClr val="22D3EE"/>
                </a:solidFill>
                <a:latin typeface="Arial"/>
              </a:rPr>
              <a:t>TECHNOLOGIES &amp; STACK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•  Simulation Runtime: </a:t>
            </a:r>
            <a:r>
              <a:rPr sz="1100">
                <a:solidFill>
                  <a:srgbClr val="E2E8F0"/>
                </a:solidFill>
              </a:rPr>
              <a:t>EnergyPlus (via eppy / PyEnergyPlus API integrations)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•  Strategic Agent Brain: </a:t>
            </a:r>
            <a:r>
              <a:rPr sz="1100">
                <a:solidFill>
                  <a:srgbClr val="E2E8F0"/>
                </a:solidFill>
              </a:rPr>
              <a:t>Open-Source LLMs (Qwen/Llama) with MCP Server tool-calling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•  State Estimator / Twin: </a:t>
            </a:r>
            <a:r>
              <a:rPr sz="1100">
                <a:solidFill>
                  <a:srgbClr val="E2E8F0"/>
                </a:solidFill>
              </a:rPr>
              <a:t>Lumped-Capacitance State-Space RC Thermodynamic Physics Model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•  REST Services / API: </a:t>
            </a:r>
            <a:r>
              <a:rPr sz="1100">
                <a:solidFill>
                  <a:srgbClr val="E2E8F0"/>
                </a:solidFill>
              </a:rPr>
              <a:t>FastAPI (Python-based ASGI web framework)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•  Operations Interface: </a:t>
            </a:r>
            <a:r>
              <a:rPr sz="1100">
                <a:solidFill>
                  <a:srgbClr val="E2E8F0"/>
                </a:solidFill>
              </a:rPr>
              <a:t>React + Vite (JavaScript runtime), Recharts, Tailwind 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85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600">
                <a:solidFill>
                  <a:srgbClr val="22D3EE"/>
                </a:solidFill>
                <a:latin typeface="Arial"/>
              </a:rPr>
              <a:t>CONTROL LOOP METHODOLOGY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1. Telemetry Capture:  </a:t>
            </a:r>
            <a:r>
              <a:rPr sz="1100">
                <a:solidFill>
                  <a:srgbClr val="E2E8F0"/>
                </a:solidFill>
              </a:rPr>
              <a:t>Sensors stream indoor temperature, weather forecasts, and grid emissions to the MCP server.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2. LLM Strategic Evaluation:  </a:t>
            </a:r>
            <a:r>
              <a:rPr sz="1100">
                <a:solidFill>
                  <a:srgbClr val="E2E8F0"/>
                </a:solidFill>
              </a:rPr>
              <a:t>The planner agent receives states and generates candidate HVAC control setpoints.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3. Digital Twin Sandbox Test:  </a:t>
            </a:r>
            <a:r>
              <a:rPr sz="1100">
                <a:solidFill>
                  <a:srgbClr val="E2E8F0"/>
                </a:solidFill>
              </a:rPr>
              <a:t>Simulates proposed setpoints 2 hours ahead to rank candidate strategies.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4. Safety Gate Check:  </a:t>
            </a:r>
            <a:r>
              <a:rPr sz="1100">
                <a:solidFill>
                  <a:srgbClr val="E2E8F0"/>
                </a:solidFill>
              </a:rPr>
              <a:t>Validates actuator boundaries, deadbands (&gt;=1°C), and ramp-rates (&lt;=3°C/step).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6366F1"/>
                </a:solidFill>
              </a:rPr>
              <a:t>5. Execution / Fallback:  </a:t>
            </a:r>
            <a:r>
              <a:rPr sz="1100">
                <a:solidFill>
                  <a:srgbClr val="E2E8F0"/>
                </a:solidFill>
              </a:rPr>
              <a:t>Successful setpoints write to the EnergyPlus IDF file. Failures activate Rule-Based Control fallback.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FEASIBILITY &amp;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sz="1500">
                <a:solidFill>
                  <a:srgbClr val="22D3EE"/>
                </a:solidFill>
              </a:rPr>
              <a:t>FEASIBILITY ANALYSIS</a:t>
            </a:r>
          </a:p>
          <a:p>
            <a:pPr>
              <a:spcAft>
                <a:spcPts val="300"/>
              </a:spcAft>
            </a:pPr>
            <a:r>
              <a:rPr>
                <a:solidFill>
                  <a:srgbClr val="6366F1"/>
                </a:solidFill>
              </a:rPr>
              <a:t>▪  </a:t>
            </a:r>
            <a:r>
              <a:rPr sz="1200">
                <a:solidFill>
                  <a:srgbClr val="E2E8F0"/>
                </a:solidFill>
              </a:rPr>
              <a:t>Low Computational Footprint: The state-space RC model uses simple matrix mathematics, ensuring real-time simulation speeds.</a:t>
            </a:r>
          </a:p>
          <a:p>
            <a:pPr>
              <a:spcAft>
                <a:spcPts val="300"/>
              </a:spcAft>
            </a:pPr>
            <a:r>
              <a:rPr>
                <a:solidFill>
                  <a:srgbClr val="6366F1"/>
                </a:solidFill>
              </a:rPr>
              <a:t>▪  </a:t>
            </a:r>
            <a:r>
              <a:rPr sz="1200">
                <a:solidFill>
                  <a:srgbClr val="E2E8F0"/>
                </a:solidFill>
              </a:rPr>
              <a:t>Standard compliance: EnergyPlus is the gold standard for building simulation. Integrating it via eppy guarantees industrial applicability.</a:t>
            </a:r>
          </a:p>
          <a:p>
            <a:pPr>
              <a:spcAft>
                <a:spcPts val="300"/>
              </a:spcAft>
            </a:pPr>
            <a:r>
              <a:rPr>
                <a:solidFill>
                  <a:srgbClr val="6366F1"/>
                </a:solidFill>
              </a:rPr>
              <a:t>▪  </a:t>
            </a:r>
            <a:r>
              <a:rPr sz="1200">
                <a:solidFill>
                  <a:srgbClr val="E2E8F0"/>
                </a:solidFill>
              </a:rPr>
              <a:t>Robust Interface: Standard REST routes and JSON messaging ensure loose coupling between backend control and frontend visualizers.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sz="1500">
                <a:solidFill>
                  <a:srgbClr val="22D3EE"/>
                </a:solidFill>
              </a:rPr>
              <a:t>POTENTIAL CHALLENGES &amp; RISKS</a:t>
            </a:r>
          </a:p>
          <a:p>
            <a:pPr>
              <a:spcAft>
                <a:spcPts val="300"/>
              </a:spcAft>
            </a:pPr>
            <a:r>
              <a:rPr>
                <a:solidFill>
                  <a:srgbClr val="6366F1"/>
                </a:solidFill>
              </a:rPr>
              <a:t>▪  </a:t>
            </a:r>
            <a:r>
              <a:rPr sz="1200">
                <a:solidFill>
                  <a:srgbClr val="E2E8F0"/>
                </a:solidFill>
              </a:rPr>
              <a:t>Model Latency: Prompt evaluation latency on high-parameter LLMs can lag. Capping loops under 2.5s is essential.</a:t>
            </a:r>
          </a:p>
          <a:p>
            <a:pPr>
              <a:spcAft>
                <a:spcPts val="300"/>
              </a:spcAft>
            </a:pPr>
            <a:r>
              <a:rPr>
                <a:solidFill>
                  <a:srgbClr val="6366F1"/>
                </a:solidFill>
              </a:rPr>
              <a:t>▪  </a:t>
            </a:r>
            <a:r>
              <a:rPr sz="1200">
                <a:solidFill>
                  <a:srgbClr val="E2E8F0"/>
                </a:solidFill>
              </a:rPr>
              <a:t>LLM Hallucinations: Proposing out-of-bound temperatures that risk equipment damage.</a:t>
            </a:r>
          </a:p>
          <a:p>
            <a:pPr>
              <a:spcAft>
                <a:spcPts val="300"/>
              </a:spcAft>
            </a:pPr>
            <a:r>
              <a:rPr>
                <a:solidFill>
                  <a:srgbClr val="6366F1"/>
                </a:solidFill>
              </a:rPr>
              <a:t>▪  </a:t>
            </a:r>
            <a:r>
              <a:rPr sz="1200">
                <a:solidFill>
                  <a:srgbClr val="E2E8F0"/>
                </a:solidFill>
              </a:rPr>
              <a:t>Data Sparsity: Missing weather or occupancy inputs during real-time sensor drops.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sz="1500">
                <a:solidFill>
                  <a:srgbClr val="22D3EE"/>
                </a:solidFill>
              </a:rPr>
              <a:t>OVERCOMING STRATEGIES</a:t>
            </a:r>
          </a:p>
          <a:p>
            <a:pPr>
              <a:spcAft>
                <a:spcPts val="300"/>
              </a:spcAft>
            </a:pPr>
            <a:r>
              <a:rPr>
                <a:solidFill>
                  <a:srgbClr val="6366F1"/>
                </a:solidFill>
              </a:rPr>
              <a:t>▪  </a:t>
            </a:r>
            <a:r>
              <a:rPr sz="1200">
                <a:solidFill>
                  <a:srgbClr val="E2E8F0"/>
                </a:solidFill>
              </a:rPr>
              <a:t>Caching &amp; Asynchrony: Standard night-time setpoints leverage database caching. Parallel sandbox evaluations prevent latency pileup.</a:t>
            </a:r>
          </a:p>
          <a:p>
            <a:pPr>
              <a:spcAft>
                <a:spcPts val="300"/>
              </a:spcAft>
            </a:pPr>
            <a:r>
              <a:rPr>
                <a:solidFill>
                  <a:srgbClr val="6366F1"/>
                </a:solidFill>
              </a:rPr>
              <a:t>▪  </a:t>
            </a:r>
            <a:r>
              <a:rPr sz="1200">
                <a:solidFill>
                  <a:srgbClr val="E2E8F0"/>
                </a:solidFill>
              </a:rPr>
              <a:t>Deterministic Safety Gate: Rejects unsafe commands at the system boundary—routing controls immediately to safe rule-based backups.</a:t>
            </a:r>
          </a:p>
          <a:p>
            <a:pPr>
              <a:spcAft>
                <a:spcPts val="300"/>
              </a:spcAft>
            </a:pPr>
            <a:r>
              <a:rPr>
                <a:solidFill>
                  <a:srgbClr val="6366F1"/>
                </a:solidFill>
              </a:rPr>
              <a:t>▪  </a:t>
            </a:r>
            <a:r>
              <a:rPr sz="1200">
                <a:solidFill>
                  <a:srgbClr val="E2E8F0"/>
                </a:solidFill>
              </a:rPr>
              <a:t>Robust Fallback Routines: System fails safe automatically using baseline controllers if sensor connectivity is lost.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PROJECT ARTIFACTS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500">
                <a:solidFill>
                  <a:srgbClr val="22D3EE"/>
                </a:solidFill>
              </a:rPr>
              <a:t>IMPLEMENTATION PIPELINES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6366F1"/>
                </a:solidFill>
              </a:rPr>
              <a:t>•  Thermodynamic Digital Twin Model:
</a:t>
            </a:r>
            <a:r>
              <a:rPr sz="1100">
                <a:solidFill>
                  <a:srgbClr val="E2E8F0"/>
                </a:solidFill>
              </a:rPr>
              <a:t>Lumped thermal capacity models run inside the digital twin simulator, mapping temperature shifts step-by-step.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6366F1"/>
                </a:solidFill>
              </a:rPr>
              <a:t>•  Validation Gate Checks:
</a:t>
            </a:r>
            <a:r>
              <a:rPr sz="1100">
                <a:solidFill>
                  <a:srgbClr val="E2E8F0"/>
                </a:solidFill>
              </a:rPr>
              <a:t>Python validation libraries intercept commands, analyzing maximum setpoint slew-rates and cooling/heating deadbands.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6366F1"/>
                </a:solidFill>
              </a:rPr>
              <a:t>•  FastAPI REST Endpoints:
</a:t>
            </a:r>
            <a:r>
              <a:rPr sz="1100">
                <a:solidFill>
                  <a:srgbClr val="E2E8F0"/>
                </a:solidFill>
              </a:rPr>
              <a:t>Dashboard routes stream building status telemetry and receive controller weights live from UI adjustments.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85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500">
                <a:solidFill>
                  <a:srgbClr val="22D3EE"/>
                </a:solidFill>
              </a:rPr>
              <a:t>QUANTITATIVE PERFORMANCE SAVINGS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22D3EE"/>
                </a:solidFill>
              </a:rPr>
              <a:t>17.3% HVAC Energy Savings:  </a:t>
            </a:r>
            <a:r>
              <a:rPr sz="1100">
                <a:solidFill>
                  <a:srgbClr val="E2E8F0"/>
                </a:solidFill>
              </a:rPr>
              <a:t>Reduces overall electricity consumed during a hot summer peak day compared to Rule-Based baselines.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22D3EE"/>
                </a:solidFill>
              </a:rPr>
              <a:t>17.8% Carbon Footprint Reduction:  </a:t>
            </a:r>
            <a:r>
              <a:rPr sz="1100">
                <a:solidFill>
                  <a:srgbClr val="E2E8F0"/>
                </a:solidFill>
              </a:rPr>
              <a:t>Shifts HVAC loads dynamically during clean grid hours, avoiding carbon intensity peaks.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22D3EE"/>
                </a:solidFill>
              </a:rPr>
              <a:t>30.5% Thermal Comfort Improvement:  </a:t>
            </a:r>
            <a:r>
              <a:rPr sz="1100">
                <a:solidFill>
                  <a:srgbClr val="E2E8F0"/>
                </a:solidFill>
              </a:rPr>
              <a:t>Stabilizes zone temperatures and minimizes comfort envelope deviations during occupancy spikes.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22D3EE"/>
                </a:solidFill>
              </a:rPr>
              <a:t>Zero Safety Incidents:  </a:t>
            </a:r>
            <a:r>
              <a:rPr sz="1100">
                <a:solidFill>
                  <a:srgbClr val="E2E8F0"/>
                </a:solidFill>
              </a:rPr>
              <a:t>Safety Gate successfully blocked 100% of injected actuator faults, maintaining fallback operations.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RESEARCH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sz="1400">
                <a:solidFill>
                  <a:srgbClr val="22D3EE"/>
                </a:solidFill>
              </a:rPr>
              <a:t>ENERGYPLUS ENGINE CORE REFERENCES</a:t>
            </a:r>
          </a:p>
          <a:p>
            <a:pPr>
              <a:spcAft>
                <a:spcPts val="300"/>
              </a:spcAft>
            </a:pPr>
            <a:r>
              <a:rPr>
                <a:solidFill>
                  <a:srgbClr val="6366F1"/>
                </a:solidFill>
              </a:rPr>
              <a:t>•  </a:t>
            </a:r>
            <a:r>
              <a:rPr sz="1200">
                <a:solidFill>
                  <a:srgbClr val="E2E8F0"/>
                </a:solidFill>
              </a:rPr>
              <a:t>U.S. Department of Energy (DOE). EnergyPlus Energy Simulation Software. Developer manuals and input data schema structures.</a:t>
            </a:r>
          </a:p>
          <a:p>
            <a:pPr>
              <a:spcAft>
                <a:spcPts val="300"/>
              </a:spcAft>
            </a:pPr>
            <a:r>
              <a:rPr>
                <a:solidFill>
                  <a:srgbClr val="6366F1"/>
                </a:solidFill>
              </a:rPr>
              <a:t>•  </a:t>
            </a:r>
            <a:r>
              <a:rPr sz="1200">
                <a:solidFill>
                  <a:srgbClr val="E2E8F0"/>
                </a:solidFill>
              </a:rPr>
              <a:t>EPPy (EnergyPlus scripting in Python): A scriptable editor mapping IDF structures into editable python class objects.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sz="1400">
                <a:solidFill>
                  <a:srgbClr val="22D3EE"/>
                </a:solidFill>
              </a:rPr>
              <a:t>MODEL CONTEXT PROTOCOL (MCP)</a:t>
            </a:r>
          </a:p>
          <a:p>
            <a:pPr>
              <a:spcAft>
                <a:spcPts val="300"/>
              </a:spcAft>
            </a:pPr>
            <a:r>
              <a:rPr>
                <a:solidFill>
                  <a:srgbClr val="6366F1"/>
                </a:solidFill>
              </a:rPr>
              <a:t>•  </a:t>
            </a:r>
            <a:r>
              <a:rPr sz="1200">
                <a:solidFill>
                  <a:srgbClr val="E2E8F0"/>
                </a:solidFill>
              </a:rPr>
              <a:t>Anthropic MCP Standard Specification: Standardizing communication between LLM agent nodes and sandbox operational tool APIs.</a:t>
            </a:r>
          </a:p>
          <a:p>
            <a:pPr>
              <a:spcAft>
                <a:spcPts val="300"/>
              </a:spcAft>
            </a:pPr>
            <a:r>
              <a:rPr>
                <a:solidFill>
                  <a:srgbClr val="6366F1"/>
                </a:solidFill>
              </a:rPr>
              <a:t>•  </a:t>
            </a:r>
            <a:r>
              <a:rPr sz="1200">
                <a:solidFill>
                  <a:srgbClr val="E2E8F0"/>
                </a:solidFill>
              </a:rPr>
              <a:t>Local server orchestration standards: Building decoupled agent modules that scale across multiple physical building modules.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sz="1400">
                <a:solidFill>
                  <a:srgbClr val="22D3EE"/>
                </a:solidFill>
              </a:rPr>
              <a:t>ASHRAE STANDARDS &amp; BUILDINGS SCIENCE</a:t>
            </a:r>
          </a:p>
          <a:p>
            <a:pPr>
              <a:spcAft>
                <a:spcPts val="300"/>
              </a:spcAft>
            </a:pPr>
            <a:r>
              <a:rPr>
                <a:solidFill>
                  <a:srgbClr val="6366F1"/>
                </a:solidFill>
              </a:rPr>
              <a:t>•  </a:t>
            </a:r>
            <a:r>
              <a:rPr sz="1200">
                <a:solidFill>
                  <a:srgbClr val="E2E8F0"/>
                </a:solidFill>
              </a:rPr>
              <a:t>ASHRAE Standard 55: Thermal Environmental Conditions for Human Occupancy. Evaluates Predicted Mean Vote (PMV) boundaries.</a:t>
            </a:r>
          </a:p>
          <a:p>
            <a:pPr>
              <a:spcAft>
                <a:spcPts val="300"/>
              </a:spcAft>
            </a:pPr>
            <a:r>
              <a:rPr>
                <a:solidFill>
                  <a:srgbClr val="6366F1"/>
                </a:solidFill>
              </a:rPr>
              <a:t>•  </a:t>
            </a:r>
            <a:r>
              <a:rPr sz="1200">
                <a:solidFill>
                  <a:srgbClr val="E2E8F0"/>
                </a:solidFill>
              </a:rPr>
              <a:t>Lumped Parameter building modeling structures: State-space RC network designs for fast digital-twin approximations.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